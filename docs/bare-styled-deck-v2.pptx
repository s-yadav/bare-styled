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AF0F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EAF0FB"/>
                </a:solidFill>
                <a:latin typeface="Arial"/>
              </a:rPr>
              <a:t>render time improvement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improvement vs styled-components</c:v>
                </c:pt>
              </c:strCache>
            </c:strRef>
          </c:tx>
          <c:spPr>
            <a:solidFill>
              <a:srgbClr val="3ED6C0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EAF0F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mount (avg)</c:v>
                  </c:pt>
                  <c:pt idx="1">
                    <c:v>re-render (avg)</c:v>
                  </c:pt>
                  <c:pt idx="2">
                    <c:v>re-render (best case)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</c:v>
                </c:pt>
                <c:pt idx="1">
                  <c:v>48</c:v>
                </c:pt>
                <c:pt idx="2">
                  <c:v>63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400" u="none">
                  <a:solidFill>
                    <a:srgbClr val="EAF0F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0B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</c:scaling>
        <c:delete val="0"/>
        <c:axPos val="l"/>
        <c:majorGridlines>
          <c:spPr>
            <a:ln w="6350" cap="flat">
              <a:solidFill>
                <a:srgbClr val="26345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FA0B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C1220"/>
        </a:solidFill>
        <a:ln>
          <a:noFill/>
        </a:ln>
        <a:effectLst/>
      </c:spPr>
    </c:plotArea>
    <c:plotVisOnly val="1"/>
    <c:dispBlanksAs val="span"/>
  </c:chart>
  <c:spPr>
    <a:solidFill>
      <a:srgbClr val="0C1220"/>
    </a:solidFill>
    <a:ln w="12700" cap="flat">
      <a:solidFill>
        <a:srgbClr val="0C1220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AF0F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EAF0FB"/>
                </a:solidFill>
                <a:latin typeface="Arial"/>
              </a:rPr>
              <a:t>styling work per session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styled-components</c:v>
                </c:pt>
              </c:strCache>
            </c:strRef>
          </c:tx>
          <c:spPr>
            <a:solidFill>
              <a:srgbClr val="E9679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EAF0F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styling engine CPU (ms)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143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bare-styled</c:v>
                </c:pt>
              </c:strCache>
            </c:strRef>
          </c:tx>
          <c:spPr>
            <a:solidFill>
              <a:srgbClr val="3ED6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EAF0F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styling engine CPU (ms)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53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EAF0F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0B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6345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FA0B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C1220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8FA0B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C1220"/>
    </a:solidFill>
    <a:ln w="12700" cap="flat">
      <a:solidFill>
        <a:srgbClr val="0C1220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EAF0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bare-styled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E967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styled-components</a:t>
            </a:r>
            <a:pPr algn="ctr" indent="0" marL="0">
              <a:buNone/>
            </a:pPr>
            <a:r>
              <a:rPr lang="en-US" sz="2400" i="1" dirty="0">
                <a:solidFill>
                  <a:srgbClr val="8FA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without components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88920" y="429768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1D2A4A"/>
          </a:solidFill>
          <a:ln w="15875">
            <a:solidFill>
              <a:srgbClr val="3ED6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88920" y="42976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ED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API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74920" y="429768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1D2A4A"/>
          </a:solidFill>
          <a:ln w="15875">
            <a:solidFill>
              <a:srgbClr val="3ED6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74920" y="42976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ED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wrapper fibers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60920" y="429768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1D2A4A"/>
          </a:solidFill>
          <a:ln w="15875">
            <a:solidFill>
              <a:srgbClr val="45D48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60920" y="42976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5D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+48% re-render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62179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Prophecy frontend ·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0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styled-components in one slide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lives with the component — the library turns a template into a class at render time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846320" cy="2377440"/>
          </a:xfrm>
          <a:prstGeom prst="roundRect">
            <a:avLst>
              <a:gd name="adj" fmla="val 3077"/>
            </a:avLst>
          </a:prstGeom>
          <a:solidFill>
            <a:srgbClr val="16203A"/>
          </a:solidFill>
          <a:ln w="12700">
            <a:solidFill>
              <a:srgbClr val="2634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4480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E967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AF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styled.button`
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AF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8px 16px;
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AF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border-radius: 6px;
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AF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C2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${p =&gt; p.$primary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C2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? '#e9679c' : '#1d2a4a'}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AF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
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AF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`;
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ED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$primary&gt;Save&lt;/Button&gt;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760720" y="2011680"/>
            <a:ext cx="1133856" cy="1051560"/>
          </a:xfrm>
          <a:prstGeom prst="roundRect">
            <a:avLst>
              <a:gd name="adj" fmla="val 6957"/>
            </a:avLst>
          </a:prstGeom>
          <a:solidFill>
            <a:srgbClr val="16203A"/>
          </a:solidFill>
          <a:ln w="12700">
            <a:solidFill>
              <a:srgbClr val="2634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79008" y="2011680"/>
            <a:ext cx="1097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967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&lt;Button/&gt; renders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894576" y="2537460"/>
            <a:ext cx="109728" cy="0"/>
          </a:xfrm>
          <a:prstGeom prst="line">
            <a:avLst/>
          </a:prstGeom>
          <a:noFill/>
          <a:ln w="28575">
            <a:solidFill>
              <a:srgbClr val="8FA0B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004304" y="2011680"/>
            <a:ext cx="1133856" cy="1051560"/>
          </a:xfrm>
          <a:prstGeom prst="roundRect">
            <a:avLst>
              <a:gd name="adj" fmla="val 6957"/>
            </a:avLst>
          </a:prstGeom>
          <a:solidFill>
            <a:srgbClr val="16203A"/>
          </a:solidFill>
          <a:ln w="12700">
            <a:solidFill>
              <a:srgbClr val="2634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22592" y="2011680"/>
            <a:ext cx="1097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0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template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AF0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props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138160" y="2537460"/>
            <a:ext cx="109728" cy="0"/>
          </a:xfrm>
          <a:prstGeom prst="line">
            <a:avLst/>
          </a:prstGeom>
          <a:noFill/>
          <a:ln w="28575">
            <a:solidFill>
              <a:srgbClr val="8FA0B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247888" y="2011680"/>
            <a:ext cx="1133856" cy="1051560"/>
          </a:xfrm>
          <a:prstGeom prst="roundRect">
            <a:avLst>
              <a:gd name="adj" fmla="val 6957"/>
            </a:avLst>
          </a:prstGeom>
          <a:solidFill>
            <a:srgbClr val="16203A"/>
          </a:solidFill>
          <a:ln w="12700">
            <a:solidFill>
              <a:srgbClr val="2634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66176" y="2011680"/>
            <a:ext cx="1097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0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stylis: parse CSS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AF0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rules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381744" y="2537460"/>
            <a:ext cx="109728" cy="0"/>
          </a:xfrm>
          <a:prstGeom prst="line">
            <a:avLst/>
          </a:prstGeom>
          <a:noFill/>
          <a:ln w="28575">
            <a:solidFill>
              <a:srgbClr val="8FA0B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491472" y="2011680"/>
            <a:ext cx="1133856" cy="1051560"/>
          </a:xfrm>
          <a:prstGeom prst="roundRect">
            <a:avLst>
              <a:gd name="adj" fmla="val 6957"/>
            </a:avLst>
          </a:prstGeom>
          <a:solidFill>
            <a:srgbClr val="16203A"/>
          </a:solidFill>
          <a:ln w="12700">
            <a:solidFill>
              <a:srgbClr val="2634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0" y="2011680"/>
            <a:ext cx="1097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AF0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 → class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AF0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 into sheet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0625328" y="2537460"/>
            <a:ext cx="109728" cy="0"/>
          </a:xfrm>
          <a:prstGeom prst="line">
            <a:avLst/>
          </a:prstGeom>
          <a:noFill/>
          <a:ln w="28575">
            <a:solidFill>
              <a:srgbClr val="8FA0B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0735056" y="2011680"/>
            <a:ext cx="1133856" cy="1051560"/>
          </a:xfrm>
          <a:prstGeom prst="roundRect">
            <a:avLst>
              <a:gd name="adj" fmla="val 6957"/>
            </a:avLst>
          </a:prstGeom>
          <a:solidFill>
            <a:srgbClr val="16203A"/>
          </a:solidFill>
          <a:ln w="12700">
            <a:solidFill>
              <a:srgbClr val="2634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53344" y="2011680"/>
            <a:ext cx="1097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ED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&lt;button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3ED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class="sc-x abc"&gt;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852160" y="329184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FA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…and this pipeline runs inside a real React component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29768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16203A"/>
          </a:solidFill>
          <a:ln w="12700">
            <a:solidFill>
              <a:srgbClr val="2634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480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0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teams love it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22960" y="4892040"/>
            <a:ext cx="310896" cy="310896"/>
          </a:xfrm>
          <a:prstGeom prst="ellipse">
            <a:avLst/>
          </a:prstGeom>
          <a:solidFill>
            <a:srgbClr val="1D2A4A"/>
          </a:solidFill>
          <a:ln w="19050">
            <a:solidFill>
              <a:srgbClr val="E9679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892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67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34440" y="48463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co-located styles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234440" y="513892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next to the component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520440" y="4892040"/>
            <a:ext cx="310896" cy="310896"/>
          </a:xfrm>
          <a:prstGeom prst="ellipse">
            <a:avLst/>
          </a:prstGeom>
          <a:solidFill>
            <a:srgbClr val="1D2A4A"/>
          </a:solidFill>
          <a:ln w="19050">
            <a:solidFill>
              <a:srgbClr val="E9679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20440" y="4892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67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931920" y="48463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by props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931920" y="513892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 = f(props)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17920" y="4892040"/>
            <a:ext cx="310896" cy="310896"/>
          </a:xfrm>
          <a:prstGeom prst="ellipse">
            <a:avLst/>
          </a:prstGeom>
          <a:solidFill>
            <a:srgbClr val="1D2A4A"/>
          </a:solidFill>
          <a:ln w="19050">
            <a:solidFill>
              <a:srgbClr val="E9679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4892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67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629400" y="48463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scoped classes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629400" y="513892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naming collisions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915400" y="4892040"/>
            <a:ext cx="310896" cy="310896"/>
          </a:xfrm>
          <a:prstGeom prst="ellipse">
            <a:avLst/>
          </a:prstGeom>
          <a:solidFill>
            <a:srgbClr val="1D2A4A"/>
          </a:solidFill>
          <a:ln w="19050">
            <a:solidFill>
              <a:srgbClr val="E9679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915400" y="4892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67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326880" y="48463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themable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9326880" y="513892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tokens everywhere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0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React actually renders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styled element is a real component — your tree silently doubles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120640" cy="4572000"/>
          </a:xfrm>
          <a:prstGeom prst="roundRect">
            <a:avLst>
              <a:gd name="adj" fmla="val 1600"/>
            </a:avLst>
          </a:prstGeom>
          <a:solidFill>
            <a:srgbClr val="16203A"/>
          </a:solidFill>
          <a:ln w="12700">
            <a:solidFill>
              <a:srgbClr val="2634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0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JSX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2286000"/>
            <a:ext cx="1645920" cy="457200"/>
          </a:xfrm>
          <a:prstGeom prst="roundRect">
            <a:avLst>
              <a:gd name="adj" fmla="val 20000"/>
            </a:avLst>
          </a:prstGeom>
          <a:solidFill>
            <a:srgbClr val="1D2A4A"/>
          </a:solidFill>
          <a:ln w="19050">
            <a:solidFill>
              <a:srgbClr val="3ED6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0" y="2286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&lt;Card&gt;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280160" y="3383280"/>
            <a:ext cx="1645920" cy="457200"/>
          </a:xfrm>
          <a:prstGeom prst="roundRect">
            <a:avLst>
              <a:gd name="adj" fmla="val 20000"/>
            </a:avLst>
          </a:prstGeom>
          <a:solidFill>
            <a:srgbClr val="1D2A4A"/>
          </a:solidFill>
          <a:ln w="19050">
            <a:solidFill>
              <a:srgbClr val="3ED6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33832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&lt;Title&gt;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3383280"/>
            <a:ext cx="1645920" cy="457200"/>
          </a:xfrm>
          <a:prstGeom prst="roundRect">
            <a:avLst>
              <a:gd name="adj" fmla="val 20000"/>
            </a:avLst>
          </a:prstGeom>
          <a:solidFill>
            <a:srgbClr val="1D2A4A"/>
          </a:solidFill>
          <a:ln w="19050">
            <a:solidFill>
              <a:srgbClr val="3ED6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33832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&lt;Button&gt;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108960" y="2743200"/>
            <a:ext cx="-914400" cy="640080"/>
          </a:xfrm>
          <a:prstGeom prst="line">
            <a:avLst/>
          </a:prstGeom>
          <a:noFill/>
          <a:ln w="28575">
            <a:solidFill>
              <a:srgbClr val="8FA0B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108960" y="2743200"/>
            <a:ext cx="914400" cy="640080"/>
          </a:xfrm>
          <a:prstGeom prst="line">
            <a:avLst/>
          </a:prstGeom>
          <a:noFill/>
          <a:ln w="28575">
            <a:solidFill>
              <a:srgbClr val="8FA0BF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822960" y="5394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ED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elements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92240" y="1554480"/>
            <a:ext cx="5120640" cy="4572000"/>
          </a:xfrm>
          <a:prstGeom prst="roundRect">
            <a:avLst>
              <a:gd name="adj" fmla="val 1600"/>
            </a:avLst>
          </a:prstGeom>
          <a:solidFill>
            <a:srgbClr val="16203A"/>
          </a:solidFill>
          <a:ln w="12700">
            <a:solidFill>
              <a:srgbClr val="2634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1737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0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fiber tree with styled-components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600" y="2194560"/>
            <a:ext cx="1645920" cy="457200"/>
          </a:xfrm>
          <a:prstGeom prst="roundRect">
            <a:avLst>
              <a:gd name="adj" fmla="val 20000"/>
            </a:avLst>
          </a:prstGeom>
          <a:solidFill>
            <a:srgbClr val="1D2A4A"/>
          </a:solidFill>
          <a:ln w="19050">
            <a:solidFill>
              <a:srgbClr val="E9679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0" y="2194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67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 ⚙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0" y="2834640"/>
            <a:ext cx="1645920" cy="457200"/>
          </a:xfrm>
          <a:prstGeom prst="roundRect">
            <a:avLst>
              <a:gd name="adj" fmla="val 20000"/>
            </a:avLst>
          </a:prstGeom>
          <a:solidFill>
            <a:srgbClr val="1D2A4A"/>
          </a:solidFill>
          <a:ln w="19050">
            <a:solidFill>
              <a:srgbClr val="8FA0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0" y="2834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FA0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&lt;div&gt;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052560" y="2651760"/>
            <a:ext cx="0" cy="182880"/>
          </a:xfrm>
          <a:prstGeom prst="line">
            <a:avLst/>
          </a:prstGeom>
          <a:noFill/>
          <a:ln w="28575">
            <a:solidFill>
              <a:srgbClr val="8FA0B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040880" y="3657600"/>
            <a:ext cx="1645920" cy="457200"/>
          </a:xfrm>
          <a:prstGeom prst="roundRect">
            <a:avLst>
              <a:gd name="adj" fmla="val 20000"/>
            </a:avLst>
          </a:prstGeom>
          <a:solidFill>
            <a:srgbClr val="1D2A4A"/>
          </a:solidFill>
          <a:ln w="19050">
            <a:solidFill>
              <a:srgbClr val="E9679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3657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67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 ⚙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040880" y="4297680"/>
            <a:ext cx="1645920" cy="457200"/>
          </a:xfrm>
          <a:prstGeom prst="roundRect">
            <a:avLst>
              <a:gd name="adj" fmla="val 20000"/>
            </a:avLst>
          </a:prstGeom>
          <a:solidFill>
            <a:srgbClr val="1D2A4A"/>
          </a:solidFill>
          <a:ln w="19050">
            <a:solidFill>
              <a:srgbClr val="8FA0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0" y="4297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FA0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&lt;h3&gt;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863840" y="4114800"/>
            <a:ext cx="0" cy="182880"/>
          </a:xfrm>
          <a:prstGeom prst="line">
            <a:avLst/>
          </a:prstGeom>
          <a:noFill/>
          <a:ln w="28575">
            <a:solidFill>
              <a:srgbClr val="8FA0BF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418320" y="3657600"/>
            <a:ext cx="1645920" cy="457200"/>
          </a:xfrm>
          <a:prstGeom prst="roundRect">
            <a:avLst>
              <a:gd name="adj" fmla="val 20000"/>
            </a:avLst>
          </a:prstGeom>
          <a:solidFill>
            <a:srgbClr val="1D2A4A"/>
          </a:solidFill>
          <a:ln w="19050">
            <a:solidFill>
              <a:srgbClr val="E9679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18320" y="3657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67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 ⚙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418320" y="4297680"/>
            <a:ext cx="1645920" cy="457200"/>
          </a:xfrm>
          <a:prstGeom prst="roundRect">
            <a:avLst>
              <a:gd name="adj" fmla="val 20000"/>
            </a:avLst>
          </a:prstGeom>
          <a:solidFill>
            <a:srgbClr val="1D2A4A"/>
          </a:solidFill>
          <a:ln w="19050">
            <a:solidFill>
              <a:srgbClr val="8FA0B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18320" y="4297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FA0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&lt;button&gt;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0241280" y="4114800"/>
            <a:ext cx="0" cy="182880"/>
          </a:xfrm>
          <a:prstGeom prst="line">
            <a:avLst/>
          </a:prstGeom>
          <a:noFill/>
          <a:ln w="28575">
            <a:solidFill>
              <a:srgbClr val="8FA0BF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686800" y="3291840"/>
            <a:ext cx="-731520" cy="365760"/>
          </a:xfrm>
          <a:prstGeom prst="line">
            <a:avLst/>
          </a:prstGeom>
          <a:noFill/>
          <a:ln w="28575">
            <a:solidFill>
              <a:srgbClr val="8FA0BF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509760" y="3291840"/>
            <a:ext cx="640080" cy="365760"/>
          </a:xfrm>
          <a:prstGeom prst="line">
            <a:avLst/>
          </a:prstGeom>
          <a:noFill/>
          <a:ln w="28575">
            <a:solidFill>
              <a:srgbClr val="8FA0BF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6766560" y="5394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fibers</a:t>
            </a:r>
            <a:pPr algn="ctr" indent="0" marL="0">
              <a:buNone/>
            </a:pPr>
            <a:r>
              <a:rPr lang="en-US" sz="1400" dirty="0">
                <a:solidFill>
                  <a:srgbClr val="8FA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one extra component per styled element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715000" y="3840480"/>
            <a:ext cx="731520" cy="0"/>
          </a:xfrm>
          <a:prstGeom prst="line">
            <a:avLst/>
          </a:prstGeom>
          <a:noFill/>
          <a:ln w="28575">
            <a:solidFill>
              <a:srgbClr val="FF7A6B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0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cost comes from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taxes, paid on every mount and every re-render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16203A"/>
          </a:solidFill>
          <a:ln w="12700">
            <a:solidFill>
              <a:srgbClr val="2634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20240"/>
            <a:ext cx="502920" cy="502920"/>
          </a:xfrm>
          <a:prstGeom prst="ellipse">
            <a:avLst/>
          </a:prstGeom>
          <a:solidFill>
            <a:srgbClr val="1D2A4A"/>
          </a:solidFill>
          <a:ln w="22225">
            <a:solidFill>
              <a:srgbClr val="FF7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7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0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wrapper fibers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styled element mounts, reconciles and updates an extra component — thousands of them on a busy screen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4709160"/>
            <a:ext cx="2971800" cy="777240"/>
          </a:xfrm>
          <a:prstGeom prst="roundRect">
            <a:avLst>
              <a:gd name="adj" fmla="val 9412"/>
            </a:avLst>
          </a:prstGeom>
          <a:solidFill>
            <a:srgbClr val="0A0F1C"/>
          </a:solidFill>
          <a:ln w="12700">
            <a:solidFill>
              <a:srgbClr val="2634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47091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fiber → props → context → render → diff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43400" y="164592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16203A"/>
          </a:solidFill>
          <a:ln w="12700">
            <a:solidFill>
              <a:srgbClr val="26345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1920240"/>
            <a:ext cx="502920" cy="502920"/>
          </a:xfrm>
          <a:prstGeom prst="ellipse">
            <a:avLst/>
          </a:prstGeom>
          <a:solidFill>
            <a:srgbClr val="1D2A4A"/>
          </a:solidFill>
          <a:ln w="22225">
            <a:solidFill>
              <a:srgbClr val="FF7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7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17720" y="2606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0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per-render style work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17720" y="30632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the execution context, resolving every interpolation, joining the template — before styling even starts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617720" y="4709160"/>
            <a:ext cx="2971800" cy="777240"/>
          </a:xfrm>
          <a:prstGeom prst="roundRect">
            <a:avLst>
              <a:gd name="adj" fmla="val 9412"/>
            </a:avLst>
          </a:prstGeom>
          <a:solidFill>
            <a:srgbClr val="0A0F1C"/>
          </a:solidFill>
          <a:ln w="12700">
            <a:solidFill>
              <a:srgbClr val="2634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47091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resolve ${p =&gt; …} × N  →  join  →  hash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138160" y="164592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16203A"/>
          </a:solidFill>
          <a:ln w="12700">
            <a:solidFill>
              <a:srgbClr val="26345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12480" y="1920240"/>
            <a:ext cx="502920" cy="502920"/>
          </a:xfrm>
          <a:prstGeom prst="ellipse">
            <a:avLst/>
          </a:prstGeom>
          <a:solidFill>
            <a:srgbClr val="1D2A4A"/>
          </a:solidFill>
          <a:ln w="22225">
            <a:solidFill>
              <a:srgbClr val="FF7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7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412480" y="2606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0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parsing in the browser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412480" y="30632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stylis parses and serializes the CSS string at runtime, per component and per unique style variant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412480" y="4709160"/>
            <a:ext cx="2971800" cy="777240"/>
          </a:xfrm>
          <a:prstGeom prst="roundRect">
            <a:avLst>
              <a:gd name="adj" fmla="val 9412"/>
            </a:avLst>
          </a:prstGeom>
          <a:solidFill>
            <a:srgbClr val="0A0F1C"/>
          </a:solidFill>
          <a:ln w="12700">
            <a:solidFill>
              <a:srgbClr val="2634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49640" y="47091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 → nest → prefix → serialize → insert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FA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of this work is visible in your code — it all happens inside the library, at runtime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0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bare-styled: resolve at element creation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styled component never becomes a component — jsx() returns the host element directly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1D2A4A"/>
          </a:solidFill>
          <a:ln w="19050">
            <a:solidFill>
              <a:srgbClr val="3ED6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194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$primary&gt;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2423160"/>
            <a:ext cx="914400" cy="0"/>
          </a:xfrm>
          <a:prstGeom prst="line">
            <a:avLst/>
          </a:prstGeom>
          <a:noFill/>
          <a:ln w="28575">
            <a:solidFill>
              <a:srgbClr val="3ED6C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657600" y="196596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1D2A4A"/>
          </a:solidFill>
          <a:ln w="12700">
            <a:solidFill>
              <a:srgbClr val="2634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19659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0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jsx() intercepts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AF0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resolves styles → class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2423160"/>
            <a:ext cx="914400" cy="0"/>
          </a:xfrm>
          <a:prstGeom prst="line">
            <a:avLst/>
          </a:prstGeom>
          <a:noFill/>
          <a:ln w="28575">
            <a:solidFill>
              <a:srgbClr val="3ED6C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949440" y="2194560"/>
            <a:ext cx="2926080" cy="457200"/>
          </a:xfrm>
          <a:prstGeom prst="roundRect">
            <a:avLst>
              <a:gd name="adj" fmla="val 20000"/>
            </a:avLst>
          </a:prstGeom>
          <a:solidFill>
            <a:srgbClr val="1D2A4A"/>
          </a:solidFill>
          <a:ln w="19050">
            <a:solidFill>
              <a:srgbClr val="3ED6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0" y="2194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class="bs-a1b2"&gt;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2004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FA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wrapper fiber · no component render · React only ever sees the host element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16203A"/>
          </a:solidFill>
          <a:ln w="12700">
            <a:solidFill>
              <a:srgbClr val="2634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0233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967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fiber tree — styled-components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4572000"/>
            <a:ext cx="1115568" cy="457200"/>
          </a:xfrm>
          <a:prstGeom prst="roundRect">
            <a:avLst>
              <a:gd name="adj" fmla="val 20000"/>
            </a:avLst>
          </a:prstGeom>
          <a:solidFill>
            <a:srgbClr val="1D2A4A"/>
          </a:solidFill>
          <a:ln w="19050">
            <a:solidFill>
              <a:srgbClr val="E9679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57200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67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 ⚙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029968" y="5257800"/>
            <a:ext cx="1115568" cy="457200"/>
          </a:xfrm>
          <a:prstGeom prst="roundRect">
            <a:avLst>
              <a:gd name="adj" fmla="val 20000"/>
            </a:avLst>
          </a:prstGeom>
          <a:solidFill>
            <a:srgbClr val="1D2A4A"/>
          </a:solidFill>
          <a:ln w="19050">
            <a:solidFill>
              <a:srgbClr val="8FA0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29968" y="525780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FA0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&lt;div&gt;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36976" y="4572000"/>
            <a:ext cx="1115568" cy="457200"/>
          </a:xfrm>
          <a:prstGeom prst="roundRect">
            <a:avLst>
              <a:gd name="adj" fmla="val 20000"/>
            </a:avLst>
          </a:prstGeom>
          <a:solidFill>
            <a:srgbClr val="1D2A4A"/>
          </a:solidFill>
          <a:ln w="19050">
            <a:solidFill>
              <a:srgbClr val="E9679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36976" y="457200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67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 ⚙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443984" y="5257800"/>
            <a:ext cx="1115568" cy="457200"/>
          </a:xfrm>
          <a:prstGeom prst="roundRect">
            <a:avLst>
              <a:gd name="adj" fmla="val 20000"/>
            </a:avLst>
          </a:prstGeom>
          <a:solidFill>
            <a:srgbClr val="1D2A4A"/>
          </a:solidFill>
          <a:ln w="19050">
            <a:solidFill>
              <a:srgbClr val="8FA0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43984" y="525780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FA0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&lt;button&gt;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0" y="5669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2× fibers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17920" y="384048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16203A"/>
          </a:solidFill>
          <a:ln w="12700">
            <a:solidFill>
              <a:srgbClr val="26345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40233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D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fiber tree — bare-styled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92240" y="4846320"/>
            <a:ext cx="1463040" cy="457200"/>
          </a:xfrm>
          <a:prstGeom prst="roundRect">
            <a:avLst>
              <a:gd name="adj" fmla="val 20000"/>
            </a:avLst>
          </a:prstGeom>
          <a:solidFill>
            <a:srgbClr val="1D2A4A"/>
          </a:solidFill>
          <a:ln w="19050">
            <a:solidFill>
              <a:srgbClr val="3ED6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4846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&lt;div&gt;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229600" y="4846320"/>
            <a:ext cx="1463040" cy="457200"/>
          </a:xfrm>
          <a:prstGeom prst="roundRect">
            <a:avLst>
              <a:gd name="adj" fmla="val 20000"/>
            </a:avLst>
          </a:prstGeom>
          <a:solidFill>
            <a:srgbClr val="1D2A4A"/>
          </a:solidFill>
          <a:ln w="19050">
            <a:solidFill>
              <a:srgbClr val="3ED6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4846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&lt;button&gt;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875520" y="5669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5D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hosts only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0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the runtime CSS parser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vite plugin compiles what it can at build — three tiers, cheapest wins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16203A"/>
          </a:solidFill>
          <a:ln w="12700">
            <a:solidFill>
              <a:srgbClr val="2634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5D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 · static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214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~33% of templates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08960" y="1755648"/>
            <a:ext cx="3108960" cy="1005840"/>
          </a:xfrm>
          <a:prstGeom prst="roundRect">
            <a:avLst>
              <a:gd name="adj" fmla="val 7273"/>
            </a:avLst>
          </a:prstGeom>
          <a:solidFill>
            <a:srgbClr val="0A0F1C"/>
          </a:solidFill>
          <a:ln w="12700">
            <a:solidFill>
              <a:srgbClr val="2634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46120" y="1755648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D4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padding: 8px;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5D4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color: red;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92240" y="169164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AF0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fully compiled at build.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AF0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 as a finished rule — zero style work at runtime.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15468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16203A"/>
          </a:solidFill>
          <a:ln w="12700">
            <a:solidFill>
              <a:srgbClr val="2634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291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D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 · skeleton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3721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~48% of templates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08960" y="3355848"/>
            <a:ext cx="3108960" cy="1005840"/>
          </a:xfrm>
          <a:prstGeom prst="roundRect">
            <a:avLst>
              <a:gd name="adj" fmla="val 7273"/>
            </a:avLst>
          </a:prstGeom>
          <a:solidFill>
            <a:srgbClr val="0A0F1C"/>
          </a:solidFill>
          <a:ln w="12700">
            <a:solidFill>
              <a:srgbClr val="2634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3355848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D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gap: ${p =&gt; p.gap};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329184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AF0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compiled at build, value slots left open.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AF0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= call fn + string substitution. No parser.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75488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16203A"/>
          </a:solidFill>
          <a:ln w="12700">
            <a:solidFill>
              <a:srgbClr val="2634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892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 · live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53218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108960" y="4956048"/>
            <a:ext cx="3108960" cy="1005840"/>
          </a:xfrm>
          <a:prstGeom prst="roundRect">
            <a:avLst>
              <a:gd name="adj" fmla="val 7273"/>
            </a:avLst>
          </a:prstGeom>
          <a:solidFill>
            <a:srgbClr val="0A0F1C"/>
          </a:solidFill>
          <a:ln w="12700">
            <a:solidFill>
              <a:srgbClr val="2634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46120" y="4956048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C2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${p =&gt; p.on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C2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? css`…` : ''}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92240" y="489204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AF0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 can change per render →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AF0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runtime resolve, aggressively cached.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566160" y="6355080"/>
            <a:ext cx="5029200" cy="384048"/>
          </a:xfrm>
          <a:prstGeom prst="roundRect">
            <a:avLst>
              <a:gd name="adj" fmla="val 50000"/>
            </a:avLst>
          </a:prstGeom>
          <a:solidFill>
            <a:srgbClr val="1D2A4A"/>
          </a:solidFill>
          <a:ln w="15875">
            <a:solidFill>
              <a:srgbClr val="45D48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0" y="635508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5D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 of components never touch stylis at runtime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0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 cost: one 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rewrite — the codebase keeps importing styled-components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2834640"/>
          </a:xfrm>
          <a:prstGeom prst="roundRect">
            <a:avLst>
              <a:gd name="adj" fmla="val 2581"/>
            </a:avLst>
          </a:prstGeom>
          <a:solidFill>
            <a:srgbClr val="16203A"/>
          </a:solidFill>
          <a:ln w="12700">
            <a:solidFill>
              <a:srgbClr val="2634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0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components — unchanged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FA0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styled from 'styled-components'
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FA0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3ED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F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styled.div.withConfig({
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C2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forwardProps: ({ gap, ...rest }) =&gt; rest
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F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})`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F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flex;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F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gap: ${p =&gt; p.gap};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F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`;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92240" y="1554480"/>
            <a:ext cx="5120640" cy="2834640"/>
          </a:xfrm>
          <a:prstGeom prst="roundRect">
            <a:avLst>
              <a:gd name="adj" fmla="val 2581"/>
            </a:avLst>
          </a:prstGeom>
          <a:solidFill>
            <a:srgbClr val="16203A"/>
          </a:solidFill>
          <a:ln w="12700">
            <a:solidFill>
              <a:srgbClr val="2634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0" y="1737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0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 config — the only change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66560" y="214884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3ED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bareStyled } from 'bare-styled/vite'
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F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plugins: [
</a:t>
            </a:r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3ED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bareStyled(),
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F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react({ jsxImportSource: 'bare-styled' })
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AF0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7091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0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 natively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512064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1D2A4A"/>
          </a:solidFill>
          <a:ln w="15875">
            <a:solidFill>
              <a:srgbClr val="3ED6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51206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ED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.attrs()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383280" y="512064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1D2A4A"/>
          </a:solidFill>
          <a:ln w="15875">
            <a:solidFill>
              <a:srgbClr val="3ED6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51206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ED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.withConfig()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17920" y="512064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1D2A4A"/>
          </a:solidFill>
          <a:ln w="15875">
            <a:solidFill>
              <a:srgbClr val="3ED6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51206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ED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keyframes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052560" y="512064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1D2A4A"/>
          </a:solidFill>
          <a:ln w="15875">
            <a:solidFill>
              <a:srgbClr val="3ED6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52560" y="51206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ED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${Component} selectors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66928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1D2A4A"/>
          </a:solidFill>
          <a:ln w="15875">
            <a:solidFill>
              <a:srgbClr val="3ED6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6692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ED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shouldForwardProp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383280" y="566928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1D2A4A"/>
          </a:solidFill>
          <a:ln w="15875">
            <a:solidFill>
              <a:srgbClr val="3ED6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56692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ED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forwardProps (new)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17920" y="566928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1D2A4A"/>
          </a:solidFill>
          <a:ln w="15875">
            <a:solidFill>
              <a:srgbClr val="3ED6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56692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ED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styled(X.Y)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052560" y="566928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1D2A4A"/>
          </a:solidFill>
          <a:ln w="15875">
            <a:solidFill>
              <a:srgbClr val="3ED6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52560" y="56692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ED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 statics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8FA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anything exotic falls back to real styled-components — enabling the plugin never breaks a component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0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of 3 runs · production React · 9 dashboard + widget profiles vs styled-components 6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58521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766560" y="1554480"/>
            <a:ext cx="4846320" cy="914400"/>
          </a:xfrm>
          <a:prstGeom prst="roundRect">
            <a:avLst>
              <a:gd name="adj" fmla="val 8000"/>
            </a:avLst>
          </a:prstGeom>
          <a:solidFill>
            <a:srgbClr val="16203A"/>
          </a:solidFill>
          <a:ln w="12700">
            <a:solidFill>
              <a:srgbClr val="26345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040880" y="15544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D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8641080" y="15544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wrapper fibers on styled elements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766560" y="2633472"/>
            <a:ext cx="4846320" cy="914400"/>
          </a:xfrm>
          <a:prstGeom prst="roundRect">
            <a:avLst>
              <a:gd name="adj" fmla="val 8000"/>
            </a:avLst>
          </a:prstGeom>
          <a:solidFill>
            <a:srgbClr val="16203A"/>
          </a:solidFill>
          <a:ln w="12700">
            <a:solidFill>
              <a:srgbClr val="26345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040880" y="2633472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5D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8641080" y="2633472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components stylis-free at runtime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766560" y="3712464"/>
            <a:ext cx="4846320" cy="914400"/>
          </a:xfrm>
          <a:prstGeom prst="roundRect">
            <a:avLst>
              <a:gd name="adj" fmla="val 8000"/>
            </a:avLst>
          </a:prstGeom>
          <a:solidFill>
            <a:srgbClr val="16203A"/>
          </a:solidFill>
          <a:ln w="12700">
            <a:solidFill>
              <a:srgbClr val="26345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040880" y="3712464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C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6.2×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8641080" y="3712464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build transform (oxc engine)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766560" y="4791456"/>
            <a:ext cx="4846320" cy="914400"/>
          </a:xfrm>
          <a:prstGeom prst="roundRect">
            <a:avLst>
              <a:gd name="adj" fmla="val 8000"/>
            </a:avLst>
          </a:prstGeom>
          <a:solidFill>
            <a:srgbClr val="16203A"/>
          </a:solidFill>
          <a:ln w="12700">
            <a:solidFill>
              <a:srgbClr val="26345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040880" y="4791456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AF0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4,101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8641080" y="4791456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 compiled · 0 parity errors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0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real app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 performance traces of comparable Prophecy sessions · main thread, DevTools overhead excluded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53949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00800" y="1737360"/>
            <a:ext cx="5212080" cy="1097280"/>
          </a:xfrm>
          <a:prstGeom prst="roundRect">
            <a:avLst>
              <a:gd name="adj" fmla="val 6667"/>
            </a:avLst>
          </a:prstGeom>
          <a:solidFill>
            <a:srgbClr val="16203A"/>
          </a:solidFill>
          <a:ln w="12700">
            <a:solidFill>
              <a:srgbClr val="26345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675120" y="173736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D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2.7×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458200" y="17373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styling CPU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0" y="3063240"/>
            <a:ext cx="5212080" cy="1097280"/>
          </a:xfrm>
          <a:prstGeom prst="roundRect">
            <a:avLst>
              <a:gd name="adj" fmla="val 6667"/>
            </a:avLst>
          </a:prstGeom>
          <a:solidFill>
            <a:srgbClr val="16203A"/>
          </a:solidFill>
          <a:ln w="12700">
            <a:solidFill>
              <a:srgbClr val="26345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75120" y="306324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5D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−29%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8458200" y="30632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main-thread busy time (9.0s → 6.4s)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0" y="4389120"/>
            <a:ext cx="5212080" cy="1097280"/>
          </a:xfrm>
          <a:prstGeom prst="roundRect">
            <a:avLst>
              <a:gd name="adj" fmla="val 6667"/>
            </a:avLst>
          </a:prstGeom>
          <a:solidFill>
            <a:srgbClr val="16203A"/>
          </a:solidFill>
          <a:ln w="12700">
            <a:solidFill>
              <a:srgbClr val="26345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75120" y="438912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5D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−12%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8458200" y="43891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react-dom render work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FA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styling drops from the profile almost entirely — remaining time is the app itself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FA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code.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2651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AF0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components. no parser. no tax.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2194560" y="402336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1D2A4A"/>
          </a:solidFill>
          <a:ln w="15875">
            <a:solidFill>
              <a:srgbClr val="3ED6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194560" y="40233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ED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drop-in vite plugin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754880" y="402336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1D2A4A"/>
          </a:solidFill>
          <a:ln w="15875">
            <a:solidFill>
              <a:srgbClr val="45D48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40233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5D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+48% re-render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0" y="402336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1D2A4A"/>
          </a:solidFill>
          <a:ln w="15875">
            <a:solidFill>
              <a:srgbClr val="FFC2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0" y="40233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C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fallback to SC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ED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bare-styled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2026-08-04T12:42:04Z</dcterms:created>
  <dcterms:modified xsi:type="dcterms:W3CDTF">2026-08-04T12:42:04Z</dcterms:modified>
</cp:coreProperties>
</file>